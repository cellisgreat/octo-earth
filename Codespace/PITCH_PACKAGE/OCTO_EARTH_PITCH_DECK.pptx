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0312"/>
            <a:ext cx="69494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3D2D0"/>
                </a:solidFill>
                <a:latin typeface="Arial"/>
              </a:rPr>
              <a:t>01  /  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36608" y="210312"/>
            <a:ext cx="2148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DC0CE"/>
                </a:solidFill>
                <a:latin typeface="Arial"/>
              </a:rPr>
              <a:t>0:00–0:35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12064"/>
            <a:ext cx="110185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2F6F8"/>
                </a:solidFill>
                <a:latin typeface="Arial"/>
              </a:rPr>
              <a:t>Can we move the orbit without breaking the physics?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DC0CE"/>
                </a:solidFill>
                <a:latin typeface="Arial"/>
              </a:rPr>
              <a:t>OCTO-EARTH is a physics-led simulation prototype—not a claim of planetary feasibility.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389888"/>
            <a:ext cx="11000232" cy="0"/>
          </a:xfrm>
          <a:prstGeom prst="line">
            <a:avLst/>
          </a:prstGeom>
          <a:ln w="12700">
            <a:solidFill>
              <a:srgbClr val="2A4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1430">
            <a:solidFill>
              <a:srgbClr val="2A4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519672"/>
            <a:ext cx="71323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ADC0CE"/>
                </a:solidFill>
                <a:latin typeface="Arial"/>
              </a:rPr>
              <a:t>OCTO-EARTH  |  hypothetical model · not a feasibility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ADC0CE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719072"/>
            <a:ext cx="56235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F0B765"/>
                </a:solidFill>
                <a:latin typeface="Arial"/>
              </a:rPr>
              <a:t>1 AU  →  2.7 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304288"/>
            <a:ext cx="5394960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F2F6F8"/>
                </a:solidFill>
                <a:latin typeface="Arial"/>
              </a:rPr>
              <a:t>Earth–Moon system · ≤10,000 simulated years
with a simplified climate objective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255264"/>
            <a:ext cx="5349240" cy="1042415"/>
          </a:xfrm>
          <a:prstGeom prst="roundRect">
            <a:avLst/>
          </a:prstGeom>
          <a:solidFill>
            <a:srgbClr val="18354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401568"/>
            <a:ext cx="498348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2F6F8"/>
                </a:solidFill>
                <a:latin typeface="Arial"/>
              </a:rPr>
              <a:t>Earth changes orbit only by reaction to finite ejected mass. The agent never edits velocity directly and never creates energy.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4617720"/>
            <a:ext cx="53035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DC0CE"/>
                </a:solidFill>
                <a:latin typeface="Arial"/>
              </a:rPr>
              <a:t>p40: 48 tests pass · 1 Torch-dependent device test blocked
Physics check blocked (Stable-Baselines3 / Torch missing)
No current PPO evaluation · no hardware certification</a:t>
            </a:r>
          </a:p>
        </p:txBody>
      </p:sp>
      <p:sp>
        <p:nvSpPr>
          <p:cNvPr id="15" name="Oval 14"/>
          <p:cNvSpPr/>
          <p:nvPr/>
        </p:nvSpPr>
        <p:spPr>
          <a:xfrm>
            <a:off x="6922008" y="2313432"/>
            <a:ext cx="4443984" cy="2926080"/>
          </a:xfrm>
          <a:prstGeom prst="ellipse">
            <a:avLst/>
          </a:prstGeom>
          <a:noFill/>
          <a:ln w="17780">
            <a:solidFill>
              <a:srgbClr val="F0B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0" y="3044952"/>
            <a:ext cx="2194560" cy="1463040"/>
          </a:xfrm>
          <a:prstGeom prst="ellipse">
            <a:avLst/>
          </a:prstGeom>
          <a:noFill/>
          <a:ln w="20320">
            <a:solidFill>
              <a:srgbClr val="53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95944" y="3483864"/>
            <a:ext cx="896112" cy="585216"/>
          </a:xfrm>
          <a:prstGeom prst="ellipse">
            <a:avLst/>
          </a:prstGeom>
          <a:solidFill>
            <a:srgbClr val="F0B765"/>
          </a:solidFill>
          <a:ln w="19050">
            <a:solidFill>
              <a:srgbClr val="F0B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034272" y="3666744"/>
            <a:ext cx="219456" cy="219456"/>
          </a:xfrm>
          <a:prstGeom prst="ellipse">
            <a:avLst/>
          </a:prstGeom>
          <a:solidFill>
            <a:srgbClr val="FFF4C9"/>
          </a:solidFill>
          <a:ln w="6350">
            <a:solidFill>
              <a:srgbClr val="FFF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65008" y="3703320"/>
            <a:ext cx="146304" cy="146304"/>
          </a:xfrm>
          <a:prstGeom prst="ellipse">
            <a:avLst/>
          </a:prstGeom>
          <a:solidFill>
            <a:srgbClr val="86BDF8"/>
          </a:solidFill>
          <a:ln w="6350">
            <a:solidFill>
              <a:srgbClr val="86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56448" y="3813048"/>
            <a:ext cx="41148" cy="41148"/>
          </a:xfrm>
          <a:prstGeom prst="ellipse">
            <a:avLst/>
          </a:prstGeom>
          <a:solidFill>
            <a:srgbClr val="F2F6F8"/>
          </a:solidFill>
          <a:ln w="5080"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65408" y="3703320"/>
            <a:ext cx="146304" cy="146304"/>
          </a:xfrm>
          <a:prstGeom prst="ellipse">
            <a:avLst/>
          </a:prstGeom>
          <a:solidFill>
            <a:srgbClr val="86BDF8"/>
          </a:solidFill>
          <a:ln w="6350">
            <a:solidFill>
              <a:srgbClr val="86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56848" y="3813048"/>
            <a:ext cx="41148" cy="41148"/>
          </a:xfrm>
          <a:prstGeom prst="ellipse">
            <a:avLst/>
          </a:prstGeom>
          <a:solidFill>
            <a:srgbClr val="F2F6F8"/>
          </a:solidFill>
          <a:ln w="5080"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1664208"/>
            <a:ext cx="1737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0B765"/>
                </a:solidFill>
                <a:latin typeface="Arial"/>
              </a:rPr>
              <a:t>Sun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395728"/>
            <a:ext cx="2468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3D2D0"/>
                </a:solidFill>
                <a:latin typeface="Arial"/>
              </a:rPr>
              <a:t>1 AU · reference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084831"/>
            <a:ext cx="1920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0B765"/>
                </a:solidFill>
                <a:latin typeface="Arial"/>
              </a:rPr>
              <a:t>2.7 AU · target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440680"/>
            <a:ext cx="1828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ADC0CE"/>
                </a:solidFill>
                <a:latin typeface="Arial"/>
              </a:rPr>
              <a:t>SCHEMATIC · not to scale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0312"/>
            <a:ext cx="69494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3D2D0"/>
                </a:solidFill>
                <a:latin typeface="Arial"/>
              </a:rPr>
              <a:t>02  /  MOMENTUM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36608" y="210312"/>
            <a:ext cx="2148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DC0CE"/>
                </a:solidFill>
                <a:latin typeface="Arial"/>
              </a:rPr>
              <a:t>0:35–1:25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12064"/>
            <a:ext cx="110185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2F6F8"/>
                </a:solidFill>
                <a:latin typeface="Arial"/>
              </a:rPr>
              <a:t>The only push is a real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DC0CE"/>
                </a:solidFill>
                <a:latin typeface="Arial"/>
              </a:rPr>
              <a:t>Mass is finite; fragments retain their velocities; all eight arms throw one packet together per event.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389888"/>
            <a:ext cx="11000232" cy="0"/>
          </a:xfrm>
          <a:prstGeom prst="line">
            <a:avLst/>
          </a:prstGeom>
          <a:ln w="12700">
            <a:solidFill>
              <a:srgbClr val="2A4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1430">
            <a:solidFill>
              <a:srgbClr val="2A4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519672"/>
            <a:ext cx="71323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ADC0CE"/>
                </a:solidFill>
                <a:latin typeface="Arial"/>
              </a:rPr>
              <a:t>OCTO-EARTH  |  hypothetical model · not a feasibility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ADC0CE"/>
                </a:solidFill>
                <a:latin typeface="Arial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73352"/>
            <a:ext cx="5440680" cy="4434840"/>
          </a:xfrm>
          <a:prstGeom prst="roundRect">
            <a:avLst/>
          </a:prstGeom>
          <a:solidFill>
            <a:srgbClr val="12283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06040" y="3182112"/>
            <a:ext cx="1115568" cy="1115568"/>
          </a:xfrm>
          <a:prstGeom prst="ellipse">
            <a:avLst/>
          </a:prstGeom>
          <a:solidFill>
            <a:srgbClr val="3077A8"/>
          </a:solidFill>
          <a:ln w="17780">
            <a:solidFill>
              <a:srgbClr val="8C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06624" y="3547872"/>
            <a:ext cx="914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2F6F8"/>
                </a:solidFill>
                <a:latin typeface="Arial"/>
              </a:rPr>
              <a:t>EARTH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0" y="2862072"/>
            <a:ext cx="1764792" cy="1764792"/>
          </a:xfrm>
          <a:prstGeom prst="ellipse">
            <a:avLst/>
          </a:prstGeom>
          <a:noFill/>
          <a:ln w="16510">
            <a:solidFill>
              <a:srgbClr val="53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3172968" y="2852928"/>
            <a:ext cx="0" cy="886968"/>
          </a:xfrm>
          <a:prstGeom prst="line">
            <a:avLst/>
          </a:prstGeom>
          <a:ln w="12700">
            <a:solidFill>
              <a:srgbClr val="53D2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172968" y="3200400"/>
            <a:ext cx="704088" cy="539496"/>
          </a:xfrm>
          <a:prstGeom prst="line">
            <a:avLst/>
          </a:prstGeom>
          <a:ln w="12700">
            <a:solidFill>
              <a:srgbClr val="53D2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72968" y="3739896"/>
            <a:ext cx="868680" cy="9143"/>
          </a:xfrm>
          <a:prstGeom prst="line">
            <a:avLst/>
          </a:prstGeom>
          <a:ln w="12700">
            <a:solidFill>
              <a:srgbClr val="53D2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72968" y="3739896"/>
            <a:ext cx="530352" cy="630936"/>
          </a:xfrm>
          <a:prstGeom prst="line">
            <a:avLst/>
          </a:prstGeom>
          <a:ln w="12700">
            <a:solidFill>
              <a:srgbClr val="53D2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172968" y="3739896"/>
            <a:ext cx="0" cy="886968"/>
          </a:xfrm>
          <a:prstGeom prst="line">
            <a:avLst/>
          </a:prstGeom>
          <a:ln w="12700">
            <a:solidFill>
              <a:srgbClr val="53D2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487168" y="3739896"/>
            <a:ext cx="685800" cy="576072"/>
          </a:xfrm>
          <a:prstGeom prst="line">
            <a:avLst/>
          </a:prstGeom>
          <a:ln w="12700">
            <a:solidFill>
              <a:srgbClr val="53D2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2304288" y="3739896"/>
            <a:ext cx="868680" cy="9143"/>
          </a:xfrm>
          <a:prstGeom prst="line">
            <a:avLst/>
          </a:prstGeom>
          <a:ln w="12700">
            <a:solidFill>
              <a:srgbClr val="53D2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2587752" y="3200400"/>
            <a:ext cx="585216" cy="539496"/>
          </a:xfrm>
          <a:prstGeom prst="line">
            <a:avLst/>
          </a:prstGeom>
          <a:ln w="12700">
            <a:solidFill>
              <a:srgbClr val="53D2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063240" y="1920240"/>
            <a:ext cx="219456" cy="219456"/>
          </a:xfrm>
          <a:prstGeom prst="ellipse">
            <a:avLst/>
          </a:prstGeom>
          <a:solidFill>
            <a:srgbClr val="F0B765"/>
          </a:solidFill>
          <a:ln w="6350">
            <a:solidFill>
              <a:srgbClr val="F0B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2139696"/>
            <a:ext cx="1920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0B765"/>
                </a:solidFill>
                <a:latin typeface="Arial"/>
              </a:rPr>
              <a:t>finite asteroid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3182112" y="1554480"/>
            <a:ext cx="1133856" cy="292608"/>
          </a:xfrm>
          <a:prstGeom prst="line">
            <a:avLst/>
          </a:prstGeom>
          <a:ln w="31750">
            <a:solidFill>
              <a:srgbClr val="F0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297680" y="1389888"/>
            <a:ext cx="1280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0B765"/>
                </a:solidFill>
                <a:latin typeface="Arial"/>
              </a:rPr>
              <a:t>packet →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508760" y="3822191"/>
            <a:ext cx="978408" cy="0"/>
          </a:xfrm>
          <a:prstGeom prst="line">
            <a:avLst/>
          </a:prstGeom>
          <a:ln w="30480">
            <a:solidFill>
              <a:srgbClr val="86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41832" y="3511296"/>
            <a:ext cx="137160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86BDF8"/>
                </a:solidFill>
                <a:latin typeface="Arial"/>
              </a:rPr>
              <a:t>Earth–Moon
recoil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5212080"/>
            <a:ext cx="46634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ADC0CE"/>
                </a:solidFill>
                <a:latin typeface="Arial"/>
              </a:rPr>
              <a:t>2 R_E arms · one joint packet event
fragments / impacts / escapes remain in the ledger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1737360"/>
            <a:ext cx="4983480" cy="1033271"/>
          </a:xfrm>
          <a:prstGeom prst="roundRect">
            <a:avLst/>
          </a:prstGeom>
          <a:solidFill>
            <a:srgbClr val="12283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1865376"/>
            <a:ext cx="465429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0B765"/>
                </a:solidFill>
                <a:latin typeface="Arial"/>
              </a:rPr>
              <a:t>1 · Finite reservoir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1112" y="2176272"/>
            <a:ext cx="4654296" cy="5029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6F8"/>
                </a:solidFill>
                <a:latin typeface="Arial"/>
              </a:rPr>
              <a:t>Reaction mass is debited packet by packet; the reservoir cannot go negative.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20" y="2926080"/>
            <a:ext cx="4983480" cy="1033271"/>
          </a:xfrm>
          <a:prstGeom prst="roundRect">
            <a:avLst/>
          </a:prstGeom>
          <a:solidFill>
            <a:srgbClr val="12283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11112" y="3054096"/>
            <a:ext cx="465429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6BDF8"/>
                </a:solidFill>
                <a:latin typeface="Arial"/>
              </a:rPr>
              <a:t>2 · Equal and opposite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11112" y="3364992"/>
            <a:ext cx="4654296" cy="5029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6F8"/>
                </a:solidFill>
                <a:latin typeface="Arial"/>
              </a:rPr>
              <a:t>The Earth–Moon system recoils under momentum conservation. No teleport and no direct velocity command.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46520" y="4114800"/>
            <a:ext cx="4983480" cy="1033271"/>
          </a:xfrm>
          <a:prstGeom prst="roundRect">
            <a:avLst/>
          </a:prstGeom>
          <a:solidFill>
            <a:srgbClr val="12283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11112" y="4242816"/>
            <a:ext cx="465429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3D2D0"/>
                </a:solidFill>
                <a:latin typeface="Arial"/>
              </a:rPr>
              <a:t>3 · Energy stays explicit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11112" y="4553712"/>
            <a:ext cx="4654296" cy="5029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6F8"/>
                </a:solidFill>
                <a:latin typeface="Arial"/>
              </a:rPr>
              <a:t>Launcher draw, packet kinetic energy and heat are tracked. No free energy; reward is not a physical metric.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7104" y="5413248"/>
            <a:ext cx="47091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DC0CE"/>
                </a:solidFill>
                <a:latin typeface="Arial"/>
              </a:rPr>
              <a:t>Moon gravity is present in the fast and high-fidelity models. High-fidelity runs track explicit fragments.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0312"/>
            <a:ext cx="69494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3D2D0"/>
                </a:solidFill>
                <a:latin typeface="Arial"/>
              </a:rPr>
              <a:t>03  /  ENABLERS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36608" y="210312"/>
            <a:ext cx="2148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DC0CE"/>
                </a:solidFill>
                <a:latin typeface="Arial"/>
              </a:rPr>
              <a:t>1:25–2:10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12064"/>
            <a:ext cx="110185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2F6F8"/>
                </a:solidFill>
                <a:latin typeface="Arial"/>
              </a:rPr>
              <a:t>Three single assumptions. No bundled 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DC0CE"/>
                </a:solidFill>
                <a:latin typeface="Arial"/>
              </a:rPr>
              <a:t>Selected for mission criticality; support hardware and gaps are stated separately.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389888"/>
            <a:ext cx="11000232" cy="0"/>
          </a:xfrm>
          <a:prstGeom prst="line">
            <a:avLst/>
          </a:prstGeom>
          <a:ln w="12700">
            <a:solidFill>
              <a:srgbClr val="2A4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1430">
            <a:solidFill>
              <a:srgbClr val="2A4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519672"/>
            <a:ext cx="71323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ADC0CE"/>
                </a:solidFill>
                <a:latin typeface="Arial"/>
              </a:rPr>
              <a:t>OCTO-EARTH  |  hypothetical model · not a feasibility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ADC0CE"/>
                </a:solidFill>
                <a:latin typeface="Arial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3529584" cy="2212848"/>
          </a:xfrm>
          <a:prstGeom prst="roundRect">
            <a:avLst/>
          </a:prstGeom>
          <a:solidFill>
            <a:srgbClr val="12283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65376"/>
            <a:ext cx="32004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0B765"/>
                </a:solidFill>
                <a:latin typeface="Arial"/>
              </a:rPr>
              <a:t>E1 · FINITE ASTEROID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76272"/>
            <a:ext cx="3200400" cy="168249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6F8"/>
                </a:solidFill>
                <a:latin typeface="Arial"/>
              </a:rPr>
              <a:t>Access to a configured 3×10²² kg reaction-mass reservoir.
Why: without reaction mass, modeled recoil cannot transfer momentum to Earth.
No capture / docking is simulated.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737360"/>
            <a:ext cx="3529584" cy="2212848"/>
          </a:xfrm>
          <a:prstGeom prst="roundRect">
            <a:avLst/>
          </a:prstGeom>
          <a:solidFill>
            <a:srgbClr val="12283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1865376"/>
            <a:ext cx="32004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3D2D0"/>
                </a:solidFill>
                <a:latin typeface="Arial"/>
              </a:rPr>
              <a:t>E2 · THIN-FILM PV FIELD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176272"/>
            <a:ext cx="3200400" cy="168249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6F8"/>
                </a:solidFill>
                <a:latin typeface="Arial"/>
              </a:rPr>
              <a:t>Five million collectors at 0.5 AU, intercepting configured 30% of solar output.
Why: supplies the modeled electrical source.
Scale and construction are unverified.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737360"/>
            <a:ext cx="3529584" cy="2212848"/>
          </a:xfrm>
          <a:prstGeom prst="roundRect">
            <a:avLst/>
          </a:prstGeom>
          <a:solidFill>
            <a:srgbClr val="12283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1" y="1865376"/>
            <a:ext cx="32004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6BDF8"/>
                </a:solidFill>
                <a:latin typeface="Arial"/>
              </a:rPr>
              <a:t>E3 · SPACE-MIRROR 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9871" y="2176272"/>
            <a:ext cx="3200400" cy="168249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6F8"/>
                </a:solidFill>
                <a:latin typeface="Arial"/>
              </a:rPr>
              <a:t>Reflects sunlight into the simplified climate model at 2.7 AU.
Why: direct sunlight falls; mirrors redirect rather than create energy.
No real formation-flight design.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261104"/>
            <a:ext cx="10735056" cy="1408176"/>
          </a:xfrm>
          <a:prstGeom prst="roundRect">
            <a:avLst/>
          </a:prstGeom>
          <a:solidFill>
            <a:srgbClr val="18354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407408"/>
            <a:ext cx="49377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0B765"/>
                </a:solidFill>
                <a:latin typeface="Arial"/>
              </a:rPr>
              <a:t>SEPARATE SUPPORTING SYSTEMS — NOT ADDITIONAL ENABLERS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736592"/>
            <a:ext cx="10259568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6F8"/>
                </a:solidFill>
                <a:latin typeface="Arial"/>
              </a:rPr>
              <a:t>Launcher ring + 8 arms · power conditioning / reserve · directional radiators · microwave arrays + rectennas · collector station-keeping + sunlight lanes · factories / Mercury feedstock · mirror orbit / formation / pointing.
Each item has its own performance gap; “supporting” does not mean ordinary, feasible, safe or certified.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870448"/>
            <a:ext cx="10424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ADC0CE"/>
                </a:solidFill>
                <a:latin typeface="Arial"/>
              </a:rPr>
              <a:t>Selected enablers: asteroid access  |  photovoltaic generation  |  mirror reflection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0312"/>
            <a:ext cx="69494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3D2D0"/>
                </a:solidFill>
                <a:latin typeface="Arial"/>
              </a:rPr>
              <a:t>04  / 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36608" y="210312"/>
            <a:ext cx="2148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DC0CE"/>
                </a:solidFill>
                <a:latin typeface="Arial"/>
              </a:rPr>
              <a:t>2:10–3:20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12064"/>
            <a:ext cx="110185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2F6F8"/>
                </a:solidFill>
                <a:latin typeface="Arial"/>
              </a:rPr>
              <a:t>The hypothetical preset is planetary-scale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DC0CE"/>
                </a:solidFill>
                <a:latin typeface="Arial"/>
              </a:rPr>
              <a:t>Every value is a model estimate from one configuration—not an engineered capability.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389888"/>
            <a:ext cx="11000232" cy="0"/>
          </a:xfrm>
          <a:prstGeom prst="line">
            <a:avLst/>
          </a:prstGeom>
          <a:ln w="12700">
            <a:solidFill>
              <a:srgbClr val="2A4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1430">
            <a:solidFill>
              <a:srgbClr val="2A4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519672"/>
            <a:ext cx="71323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ADC0CE"/>
                </a:solidFill>
                <a:latin typeface="Arial"/>
              </a:rPr>
              <a:t>OCTO-EARTH  |  hypothetical model · not a feasibility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ADC0CE"/>
                </a:solidFill>
                <a:latin typeface="Arial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00784"/>
            <a:ext cx="3401568" cy="1325880"/>
          </a:xfrm>
          <a:prstGeom prst="roundRect">
            <a:avLst/>
          </a:prstGeom>
          <a:solidFill>
            <a:srgbClr val="12283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10512"/>
            <a:ext cx="3072384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0B765"/>
                </a:solidFill>
                <a:latin typeface="Arial"/>
              </a:rPr>
              <a:t>11,658 m/s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9424"/>
            <a:ext cx="307238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ADC0CE"/>
                </a:solidFill>
                <a:latin typeface="Arial"/>
              </a:rPr>
              <a:t>slow-spiral Δv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542032"/>
            <a:ext cx="3072384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2F6F8"/>
                </a:solidFill>
                <a:latin typeface="Arial"/>
              </a:rPr>
              <a:t>Required Earth velocity change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700784"/>
            <a:ext cx="3401568" cy="1325880"/>
          </a:xfrm>
          <a:prstGeom prst="roundRect">
            <a:avLst/>
          </a:prstGeom>
          <a:solidFill>
            <a:srgbClr val="12283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810512"/>
            <a:ext cx="3072384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53D2D0"/>
                </a:solidFill>
                <a:latin typeface="Arial"/>
              </a:rPr>
              <a:t>1.697×10³³ J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249424"/>
            <a:ext cx="307238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ADC0CE"/>
                </a:solidFill>
                <a:latin typeface="Arial"/>
              </a:rPr>
              <a:t>ΔE orbital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542032"/>
            <a:ext cx="3072384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2F6F8"/>
                </a:solidFill>
                <a:latin typeface="Arial"/>
              </a:rPr>
              <a:t>Earth–Moon orbital-energy increase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1" y="1700784"/>
            <a:ext cx="3401568" cy="1325880"/>
          </a:xfrm>
          <a:prstGeom prst="roundRect">
            <a:avLst/>
          </a:prstGeom>
          <a:solidFill>
            <a:srgbClr val="12283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3" y="1810512"/>
            <a:ext cx="3072384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86BDF8"/>
                </a:solidFill>
                <a:latin typeface="Arial"/>
              </a:rPr>
              <a:t>1.664×10³⁵ J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3" y="2249424"/>
            <a:ext cx="307238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ADC0CE"/>
                </a:solidFill>
                <a:latin typeface="Arial"/>
              </a:rPr>
              <a:t>minimum draw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3" y="2542032"/>
            <a:ext cx="3072384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2F6F8"/>
                </a:solidFill>
                <a:latin typeface="Arial"/>
              </a:rPr>
              <a:t>Launcher energy estimate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3218688"/>
            <a:ext cx="3401568" cy="1325880"/>
          </a:xfrm>
          <a:prstGeom prst="roundRect">
            <a:avLst/>
          </a:prstGeom>
          <a:solidFill>
            <a:srgbClr val="12283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328416"/>
            <a:ext cx="3072384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0B765"/>
                </a:solidFill>
                <a:latin typeface="Arial"/>
              </a:rPr>
              <a:t>1.415×10²² kg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767328"/>
            <a:ext cx="307238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ADC0CE"/>
                </a:solidFill>
                <a:latin typeface="Arial"/>
              </a:rPr>
              <a:t>reaction mass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059936"/>
            <a:ext cx="3072384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2F6F8"/>
                </a:solidFill>
                <a:latin typeface="Arial"/>
              </a:rPr>
              <a:t>0.193 lunar masses; 3×10²² kg available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218688"/>
            <a:ext cx="3401568" cy="1325880"/>
          </a:xfrm>
          <a:prstGeom prst="roundRect">
            <a:avLst/>
          </a:prstGeom>
          <a:solidFill>
            <a:srgbClr val="12283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3328416"/>
            <a:ext cx="3072384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53D2D0"/>
                </a:solidFill>
                <a:latin typeface="Arial"/>
              </a:rPr>
              <a:t>1.114×10²⁵ 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3767328"/>
            <a:ext cx="307238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ADC0CE"/>
                </a:solidFill>
                <a:latin typeface="Arial"/>
              </a:rPr>
              <a:t>electricity at 2.7 AU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4059936"/>
            <a:ext cx="3072384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2F6F8"/>
                </a:solidFill>
                <a:latin typeface="Arial"/>
              </a:rPr>
              <a:t>versus 6.338×10²⁴ W peak launcher demand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28431" y="3218688"/>
            <a:ext cx="3401568" cy="1325880"/>
          </a:xfrm>
          <a:prstGeom prst="roundRect">
            <a:avLst/>
          </a:prstGeom>
          <a:solidFill>
            <a:srgbClr val="12283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93023" y="3328416"/>
            <a:ext cx="3072384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86BDF8"/>
                </a:solidFill>
                <a:latin typeface="Arial"/>
              </a:rPr>
              <a:t>1.90×10¹⁷ 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3023" y="3767328"/>
            <a:ext cx="307238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ADC0CE"/>
                </a:solidFill>
                <a:latin typeface="Arial"/>
              </a:rPr>
              <a:t>mirror capacity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3023" y="4059936"/>
            <a:ext cx="3072384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2F6F8"/>
                </a:solidFill>
                <a:latin typeface="Arial"/>
              </a:rPr>
              <a:t>≈1.10× today’s Earth sunlight at target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8" y="4809744"/>
            <a:ext cx="10680192" cy="1143000"/>
          </a:xfrm>
          <a:prstGeom prst="roundRect">
            <a:avLst/>
          </a:prstGeom>
          <a:solidFill>
            <a:srgbClr val="18354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4937760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3D2D0"/>
                </a:solidFill>
                <a:latin typeface="Arial"/>
              </a:rPr>
              <a:t>PV FIELD · CONFIGURED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248656"/>
            <a:ext cx="101498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2F6F8"/>
                </a:solidFill>
                <a:latin typeface="Arial"/>
              </a:rPr>
              <a:t>5 million panels · 0.5 AU · 30% solar interception · 2.109×10²² m² area · 64,950 km square side per panel · estimated panel mass 2.109×10²¹ kg.
Estimated electric delivery: 1.290×10²⁵ W at 1 AU; 1.114×10²⁵ W at 2.7 AU. Deployment and safe transfer are unverified.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0312"/>
            <a:ext cx="69494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3D2D0"/>
                </a:solidFill>
                <a:latin typeface="Arial"/>
              </a:rPr>
              <a:t>05  /  MODEL &amp;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36608" y="210312"/>
            <a:ext cx="2148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DC0CE"/>
                </a:solidFill>
                <a:latin typeface="Arial"/>
              </a:rPr>
              <a:t>3:20–4:25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12064"/>
            <a:ext cx="110185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2F6F8"/>
                </a:solidFill>
                <a:latin typeface="Arial"/>
              </a:rPr>
              <a:t>Policy chooses commands; physics computes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DC0CE"/>
                </a:solidFill>
                <a:latin typeface="Arial"/>
              </a:rPr>
              <a:t>Two simulation speeds, separate physical metrics, and two distinct post-arrival checks.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389888"/>
            <a:ext cx="11000232" cy="0"/>
          </a:xfrm>
          <a:prstGeom prst="line">
            <a:avLst/>
          </a:prstGeom>
          <a:ln w="12700">
            <a:solidFill>
              <a:srgbClr val="2A4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1430">
            <a:solidFill>
              <a:srgbClr val="2A4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519672"/>
            <a:ext cx="71323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ADC0CE"/>
                </a:solidFill>
                <a:latin typeface="Arial"/>
              </a:rPr>
              <a:t>OCTO-EARTH  |  hypothetical model · not a feasibility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ADC0CE"/>
                </a:solidFill>
                <a:latin typeface="Arial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46504"/>
            <a:ext cx="3310128" cy="960120"/>
          </a:xfrm>
          <a:prstGeom prst="roundRect">
            <a:avLst/>
          </a:prstGeom>
          <a:solidFill>
            <a:srgbClr val="12283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874519"/>
            <a:ext cx="305409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53D2D0"/>
                </a:solidFill>
                <a:latin typeface="Arial"/>
              </a:rPr>
              <a:t>31 observations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212848"/>
            <a:ext cx="305409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ADC0CE"/>
                </a:solidFill>
                <a:latin typeface="Arial"/>
              </a:rPr>
              <a:t>orbit · mass · climate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746504"/>
            <a:ext cx="3310128" cy="960120"/>
          </a:xfrm>
          <a:prstGeom prst="roundRect">
            <a:avLst/>
          </a:prstGeom>
          <a:solidFill>
            <a:srgbClr val="12283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874519"/>
            <a:ext cx="305409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53D2D0"/>
                </a:solidFill>
                <a:latin typeface="Arial"/>
              </a:rPr>
              <a:t>PPO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212848"/>
            <a:ext cx="305409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ADC0CE"/>
                </a:solidFill>
                <a:latin typeface="Arial"/>
              </a:rPr>
              <a:t>5 continuous 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746504"/>
            <a:ext cx="3310128" cy="960120"/>
          </a:xfrm>
          <a:prstGeom prst="roundRect">
            <a:avLst/>
          </a:prstGeom>
          <a:solidFill>
            <a:srgbClr val="12283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874519"/>
            <a:ext cx="305409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53D2D0"/>
                </a:solidFill>
                <a:latin typeface="Arial"/>
              </a:rPr>
              <a:t>physics transition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212848"/>
            <a:ext cx="305409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ADC0CE"/>
                </a:solidFill>
                <a:latin typeface="Arial"/>
              </a:rPr>
              <a:t>ejection · recoil · climate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69080" y="2221992"/>
            <a:ext cx="256032" cy="0"/>
          </a:xfrm>
          <a:prstGeom prst="line">
            <a:avLst/>
          </a:prstGeom>
          <a:ln w="25400">
            <a:solidFill>
              <a:srgbClr val="F0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699248" y="2221992"/>
            <a:ext cx="256031" cy="0"/>
          </a:xfrm>
          <a:prstGeom prst="line">
            <a:avLst/>
          </a:prstGeom>
          <a:ln w="25400">
            <a:solidFill>
              <a:srgbClr val="F0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9808" y="2907792"/>
            <a:ext cx="5230368" cy="1188720"/>
          </a:xfrm>
          <a:prstGeom prst="roundRect">
            <a:avLst/>
          </a:prstGeom>
          <a:solidFill>
            <a:srgbClr val="12283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035808"/>
            <a:ext cx="4901183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3D2D0"/>
                </a:solidFill>
                <a:latin typeface="Arial"/>
              </a:rPr>
              <a:t>FAST ·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346704"/>
            <a:ext cx="4901183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2F6F8"/>
                </a:solidFill>
                <a:latin typeface="Arial"/>
              </a:rPr>
              <a:t>Kepler-based propagation; Moon orbit included; documented approximations. Used for PPO experience collection.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2907792"/>
            <a:ext cx="5230368" cy="1188720"/>
          </a:xfrm>
          <a:prstGeom prst="roundRect">
            <a:avLst/>
          </a:prstGeom>
          <a:solidFill>
            <a:srgbClr val="12283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3035808"/>
            <a:ext cx="4901183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6BDF8"/>
                </a:solidFill>
                <a:latin typeface="Arial"/>
              </a:rPr>
              <a:t>HIGH-FIDELITY · N-BODY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3346704"/>
            <a:ext cx="4901183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2F6F8"/>
                </a:solidFill>
                <a:latin typeface="Arial"/>
              </a:rPr>
              <a:t>Sun, Earth, Moon, fragments, Mars, Mercury, Venus, Jupiter; conservation/event checks. Beyond Jupiter omitted.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4315968"/>
            <a:ext cx="5230368" cy="1097280"/>
          </a:xfrm>
          <a:prstGeom prst="roundRect">
            <a:avLst/>
          </a:prstGeom>
          <a:solidFill>
            <a:srgbClr val="12283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443983"/>
            <a:ext cx="4901183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B765"/>
                </a:solidFill>
                <a:latin typeface="Arial"/>
              </a:rPr>
              <a:t>ACTIVE HOLD · agent still controls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754879"/>
            <a:ext cx="4901183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2F6F8"/>
                </a:solidFill>
                <a:latin typeface="Arial"/>
              </a:rPr>
              <a:t>Default 200 consecutive simulated years in tolerance; a breach resets progress.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4315968"/>
            <a:ext cx="5230368" cy="1097280"/>
          </a:xfrm>
          <a:prstGeom prst="roundRect">
            <a:avLst/>
          </a:prstGeom>
          <a:solidFill>
            <a:srgbClr val="12283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4224" y="4443983"/>
            <a:ext cx="4901183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3D2D0"/>
                </a:solidFill>
                <a:latin typeface="Arial"/>
              </a:rPr>
              <a:t>PASSIVE COAST · separate 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4754879"/>
            <a:ext cx="4901183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2F6F8"/>
                </a:solidFill>
                <a:latin typeface="Arial"/>
              </a:rPr>
              <a:t>Zero ejections in a high-fidelity coast after evaluation; not agent control or PPO feedback.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5623560"/>
            <a:ext cx="10680192" cy="457200"/>
          </a:xfrm>
          <a:prstGeom prst="roundRect">
            <a:avLst/>
          </a:prstGeom>
          <a:solidFill>
            <a:srgbClr val="3D2531"/>
          </a:solidFill>
          <a:ln w="12700">
            <a:solidFill>
              <a:srgbClr val="A6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5724144"/>
            <a:ext cx="102412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9C83"/>
                </a:solidFill>
                <a:latin typeface="Arial"/>
              </a:rPr>
              <a:t>EVIDENCE GAP: no current-version PPO retraining or target-hold evaluation. No current RL success is claimed.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0312"/>
            <a:ext cx="69494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3D2D0"/>
                </a:solidFill>
                <a:latin typeface="Arial"/>
              </a:rPr>
              <a:t>06  /  VIEWS &amp;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36608" y="210312"/>
            <a:ext cx="2148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DC0CE"/>
                </a:solidFill>
                <a:latin typeface="Arial"/>
              </a:rPr>
              <a:t>4:25–5:20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12064"/>
            <a:ext cx="110185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2F6F8"/>
                </a:solidFill>
                <a:latin typeface="Arial"/>
              </a:rPr>
              <a:t>A clear label is part of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DC0CE"/>
                </a:solidFill>
                <a:latin typeface="Arial"/>
              </a:rPr>
              <a:t>Separate state-driven physics from explanatory visualization and project-internal thresholds.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389888"/>
            <a:ext cx="11000232" cy="0"/>
          </a:xfrm>
          <a:prstGeom prst="line">
            <a:avLst/>
          </a:prstGeom>
          <a:ln w="12700">
            <a:solidFill>
              <a:srgbClr val="2A4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1430">
            <a:solidFill>
              <a:srgbClr val="2A4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519672"/>
            <a:ext cx="71323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ADC0CE"/>
                </a:solidFill>
                <a:latin typeface="Arial"/>
              </a:rPr>
              <a:t>OCTO-EARTH  |  hypothetical model · not a feasibility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ADC0CE"/>
                </a:solidFill>
                <a:latin typeface="Arial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138928" cy="1975104"/>
          </a:xfrm>
          <a:prstGeom prst="roundRect">
            <a:avLst/>
          </a:prstGeom>
          <a:solidFill>
            <a:srgbClr val="12283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47088"/>
            <a:ext cx="4809744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3D2D0"/>
                </a:solidFill>
                <a:latin typeface="Arial"/>
              </a:rPr>
              <a:t>STATE-DRIVEN OUTPUTS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57984"/>
            <a:ext cx="4809744" cy="1444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6F8"/>
                </a:solidFill>
                <a:latin typeface="Arial"/>
              </a:rPr>
              <a:t>• Orbital states and ejection events
• Finite packet / fragment fates and recoil
• Energy and mass ledger
• Climate temperature / ice-line indicators
• 12 representative collector tracks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9904" y="1719072"/>
            <a:ext cx="5340096" cy="1975104"/>
          </a:xfrm>
          <a:prstGeom prst="roundRect">
            <a:avLst/>
          </a:prstGeom>
          <a:solidFill>
            <a:srgbClr val="12283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1847088"/>
            <a:ext cx="501091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0B765"/>
                </a:solidFill>
                <a:latin typeface="Arial"/>
              </a:rPr>
              <a:t>ILLUSTRATIVE / SIMPLIFIED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2157984"/>
            <a:ext cx="5010912" cy="1444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6F8"/>
                </a:solidFill>
                <a:latin typeface="Arial"/>
              </a:rPr>
              <a:t>• Selectable Earth POV atmosphere / space-weather layers
• Clouds, winds, storms; not coupled climate
• Overview scale enlargement / compressed distances
• 5 million collector hardware is not tracked unit-by-unit
• Arm meshes are not stress or survival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931920"/>
            <a:ext cx="10680192" cy="1444752"/>
          </a:xfrm>
          <a:prstGeom prst="roundRect">
            <a:avLst/>
          </a:prstGeom>
          <a:solidFill>
            <a:srgbClr val="18354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087368"/>
            <a:ext cx="49377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86BDF8"/>
                </a:solidFill>
                <a:latin typeface="Arial"/>
              </a:rPr>
              <a:t>INTERNAL ORBIT / CLIMATE WINDOWS · NOT OFFICIAL LIMITS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425696"/>
            <a:ext cx="1019556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6F8"/>
                </a:solidFill>
                <a:latin typeface="Arial"/>
              </a:rPr>
              <a:t>2.7 AU ±0.05 AU · orbital-plane inclination ≤5° (degrees, not axial tilt) · absolute final eccentricity ≤0.05 (not Δe) · climate target 288 K ±5 K.
The reviewed PDFs contain no numeric rotation-axis-tilt or eccentricity-change limits. Spin, obliquity and seasons are not modeled.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596128"/>
            <a:ext cx="102412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DC0CE"/>
                </a:solidFill>
                <a:latin typeface="Arial"/>
              </a:rPr>
              <a:t>Mars safety shield: configurable tide / Moon-orbit / minimum-distance screens; internal settings, not official safety standards. Default safe distance ≈0.0246 AU.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0312"/>
            <a:ext cx="69494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3D2D0"/>
                </a:solidFill>
                <a:latin typeface="Arial"/>
              </a:rPr>
              <a:t>07  /  FOUR MODEL SCREENS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36608" y="210312"/>
            <a:ext cx="2148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DC0CE"/>
                </a:solidFill>
                <a:latin typeface="Arial"/>
              </a:rPr>
              <a:t>5:20–6:10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12064"/>
            <a:ext cx="110185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2F6F8"/>
                </a:solidFill>
                <a:latin typeface="Arial"/>
              </a:rPr>
              <a:t>Four concepts tested against the same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DC0CE"/>
                </a:solidFill>
                <a:latin typeface="Arial"/>
              </a:rPr>
              <a:t>Model 1 merges laser + Dyson; model 4 is one explicit ideal thruster case. Main launcher remains separate.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389888"/>
            <a:ext cx="11000232" cy="0"/>
          </a:xfrm>
          <a:prstGeom prst="line">
            <a:avLst/>
          </a:prstGeom>
          <a:ln w="12700">
            <a:solidFill>
              <a:srgbClr val="2A4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1430">
            <a:solidFill>
              <a:srgbClr val="2A4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519672"/>
            <a:ext cx="71323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ADC0CE"/>
                </a:solidFill>
                <a:latin typeface="Arial"/>
              </a:rPr>
              <a:t>OCTO-EARTH  |  hypothetical model · not a feasibility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ADC0CE"/>
                </a:solidFill>
                <a:latin typeface="Arial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55648"/>
            <a:ext cx="5230368" cy="1737360"/>
          </a:xfrm>
          <a:prstGeom prst="roundRect">
            <a:avLst/>
          </a:prstGeom>
          <a:solidFill>
            <a:srgbClr val="12283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83664"/>
            <a:ext cx="4901183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9C83"/>
                </a:solidFill>
                <a:latin typeface="Arial"/>
              </a:rPr>
              <a:t>FAIL 1 · LASER + DYSON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94560"/>
            <a:ext cx="4901183" cy="12070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2F6F8"/>
                </a:solidFill>
                <a:latin typeface="Arial"/>
              </a:rPr>
              <a:t>Required beam: 6.614×10²⁵ W
Simple global estimate: ≈43,993 K
Report-scale beam supplies 19.5% of F_req.
Arm capacity / SF limit are illustrative proxies.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755648"/>
            <a:ext cx="5230368" cy="1737360"/>
          </a:xfrm>
          <a:prstGeom prst="roundRect">
            <a:avLst/>
          </a:prstGeom>
          <a:solidFill>
            <a:srgbClr val="12283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1883664"/>
            <a:ext cx="4901183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B765"/>
                </a:solidFill>
                <a:latin typeface="Arial"/>
              </a:rPr>
              <a:t>FAIL 2 · HYDROGEN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194560"/>
            <a:ext cx="4901183" cy="12070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2F6F8"/>
                </a:solidFill>
                <a:latin typeface="Arial"/>
              </a:rPr>
              <a:t>Ideal fusion screen needs 1.949×10²¹ kg.
A 100 R_E scoop collects 1.346×10¹⁵ kg in 10,000 y.
Even the whole solar wind supplies only 24.3%.
1-AU flux held constant: optimistic.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675887"/>
            <a:ext cx="5230368" cy="1737360"/>
          </a:xfrm>
          <a:prstGeom prst="roundRect">
            <a:avLst/>
          </a:prstGeom>
          <a:solidFill>
            <a:srgbClr val="12283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03903"/>
            <a:ext cx="4901183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6BDF8"/>
                </a:solidFill>
                <a:latin typeface="Arial"/>
              </a:rPr>
              <a:t>FAIL 3 · LORENTZ ARMS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4901183" cy="12070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2F6F8"/>
                </a:solidFill>
                <a:latin typeface="Arial"/>
              </a:rPr>
              <a:t>F_req at 1 AU: 4.351×10¹⁷ A per arm.
Assumed 45 T / 1 m-cable screen: 2.25×10⁸ A.
Inside Earth's magnetosphere, actual net force is zero.
External-field run is hypothetical.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3675887"/>
            <a:ext cx="5230368" cy="1737360"/>
          </a:xfrm>
          <a:prstGeom prst="roundRect">
            <a:avLst/>
          </a:prstGeom>
          <a:solidFill>
            <a:srgbClr val="12283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3803903"/>
            <a:ext cx="4901183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9C83"/>
                </a:solidFill>
                <a:latin typeface="Arial"/>
              </a:rPr>
              <a:t>FAIL 4 · EARTH-DERIVED THRUSTERS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4114800"/>
            <a:ext cx="4901183" cy="12070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2F6F8"/>
                </a:solidFill>
                <a:latin typeface="Arial"/>
              </a:rPr>
              <a:t>v_e = 10 km/s; selected Earth fuel = 1×10²³ kg.
Rocket equation: 168.9 m/s → 1.01144 AU.
Ideal requirement: 4.111×10²⁴ kg (68.8% of Earth).
Even the 1×10²⁴ kg slider ceiling stays short.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596128"/>
            <a:ext cx="10680192" cy="521207"/>
          </a:xfrm>
          <a:prstGeom prst="roundRect">
            <a:avLst/>
          </a:prstGeom>
          <a:solidFill>
            <a:srgbClr val="18354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5715000"/>
            <a:ext cx="102229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ADC0CE"/>
                </a:solidFill>
                <a:latin typeface="Arial"/>
              </a:rPr>
              <a:t>Four simplified, independent screens—not validated hardware models and not part of the main launcher. The main concept still has exactly three individual enablers.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0312"/>
            <a:ext cx="69494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3D2D0"/>
                </a:solidFill>
                <a:latin typeface="Arial"/>
              </a:rPr>
              <a:t>08  /  EVIDENCE &amp; NEXT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36608" y="210312"/>
            <a:ext cx="2148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DC0CE"/>
                </a:solidFill>
                <a:latin typeface="Arial"/>
              </a:rPr>
              <a:t>6:10–7:00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12064"/>
            <a:ext cx="110185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2F6F8"/>
                </a:solidFill>
                <a:latin typeface="Arial"/>
              </a:rPr>
              <a:t>Passing checks is not passing the 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DC0CE"/>
                </a:solidFill>
                <a:latin typeface="Arial"/>
              </a:rPr>
              <a:t>The honest contribution today is inspectable bookkeeping, bounded assumptions and explicit gaps.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389888"/>
            <a:ext cx="11000232" cy="0"/>
          </a:xfrm>
          <a:prstGeom prst="line">
            <a:avLst/>
          </a:prstGeom>
          <a:ln w="12700">
            <a:solidFill>
              <a:srgbClr val="2A4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1430">
            <a:solidFill>
              <a:srgbClr val="2A4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519672"/>
            <a:ext cx="71323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ADC0CE"/>
                </a:solidFill>
                <a:latin typeface="Arial"/>
              </a:rPr>
              <a:t>OCTO-EARTH  |  hypothetical model · not a feasibility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ADC0CE"/>
                </a:solidFill>
                <a:latin typeface="Arial"/>
              </a:rP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3401568" cy="987552"/>
          </a:xfrm>
          <a:prstGeom prst="roundRect">
            <a:avLst/>
          </a:prstGeom>
          <a:solidFill>
            <a:srgbClr val="12283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847088"/>
            <a:ext cx="314553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53D2D0"/>
                </a:solidFill>
                <a:latin typeface="Arial"/>
              </a:rPr>
              <a:t>48 / 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276856"/>
            <a:ext cx="314553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ADC0CE"/>
                </a:solidFill>
                <a:latin typeface="Arial"/>
              </a:rPr>
              <a:t>tests passed¹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737360"/>
            <a:ext cx="3401568" cy="987552"/>
          </a:xfrm>
          <a:prstGeom prst="roundRect">
            <a:avLst/>
          </a:prstGeom>
          <a:solidFill>
            <a:srgbClr val="12283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1847088"/>
            <a:ext cx="314553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0B765"/>
                </a:solidFill>
                <a:latin typeface="Arial"/>
              </a:rPr>
              <a:t>TORCH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276856"/>
            <a:ext cx="314553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ADC0CE"/>
                </a:solidFill>
                <a:latin typeface="Arial"/>
              </a:rPr>
              <a:t>1 device benchmark blocked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1737360"/>
            <a:ext cx="3401568" cy="987552"/>
          </a:xfrm>
          <a:prstGeom prst="roundRect">
            <a:avLst/>
          </a:prstGeom>
          <a:solidFill>
            <a:srgbClr val="12283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1847088"/>
            <a:ext cx="314553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9C83"/>
                </a:solidFill>
                <a:latin typeface="Arial"/>
              </a:rPr>
              <a:t>BLOCKED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276856"/>
            <a:ext cx="314553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ADC0CE"/>
                </a:solidFill>
                <a:latin typeface="Arial"/>
              </a:rPr>
              <a:t>physics check: SB3 / Torch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761488"/>
            <a:ext cx="106801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ADC0CE"/>
                </a:solidFill>
                <a:latin typeface="Arial"/>
              </a:rPr>
              <a:t>¹ 48 tests pass when the torch-dependent device benchmark is deselected; the full run stops at the missing torch import. No current physics-check run.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2999232"/>
            <a:ext cx="5230368" cy="2139696"/>
          </a:xfrm>
          <a:prstGeom prst="roundRect">
            <a:avLst/>
          </a:prstGeom>
          <a:solidFill>
            <a:srgbClr val="12283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127248"/>
            <a:ext cx="4901183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9C83"/>
                </a:solidFill>
                <a:latin typeface="Arial"/>
              </a:rPr>
              <a:t>OPEN · NOT VERIFIED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438144"/>
            <a:ext cx="4901183" cy="160934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2F6F8"/>
                </a:solidFill>
                <a:latin typeface="Arial"/>
              </a:rPr>
              <a:t>• Current PPO hold performance
• Main-launcher structural SF ≥1.5
• Launch shock / Earth damage
• Radiator design / beam safety
• Asteroid capture / deployment
• Long-term orbit / full climate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2999232"/>
            <a:ext cx="5230368" cy="2139696"/>
          </a:xfrm>
          <a:prstGeom prst="roundRect">
            <a:avLst/>
          </a:prstGeom>
          <a:solidFill>
            <a:srgbClr val="12283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127248"/>
            <a:ext cx="4901183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3D2D0"/>
                </a:solidFill>
                <a:latin typeface="Arial"/>
              </a:rPr>
              <a:t>NEXT EVIDENCE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438144"/>
            <a:ext cx="4901183" cy="160934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2F6F8"/>
                </a:solidFill>
                <a:latin typeface="Arial"/>
              </a:rPr>
              <a:t>1. Retrain current version; evaluate held-out seeds through active hold.
2. Separately evaluate passive N-body coast.
3. Publish physical metrics apart from reward.
4. Add structural, thermal, sensing and launch-shock analysis.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5413248"/>
            <a:ext cx="10680192" cy="658368"/>
          </a:xfrm>
          <a:prstGeom prst="roundRect">
            <a:avLst/>
          </a:prstGeom>
          <a:solidFill>
            <a:srgbClr val="18354B"/>
          </a:solidFill>
          <a:ln w="12700">
            <a:solidFill>
              <a:srgbClr val="2A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5577840"/>
            <a:ext cx="1022299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2F6F8"/>
                </a:solidFill>
                <a:latin typeface="Arial"/>
              </a:rPr>
              <a:t>Guide format: demo ≤3 min · pitch 7 min · Q&amp;A 5 min · report ≤8 pages. Structural requirement: SF ≥1.5; no main-launcher pass is claimed.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OCTO-EARTH Pitch Deck</dc:title>
  <dc:subject>Seven-minute pitch on a hypothetical planetary mobility simulation</dc:subject>
  <dc:creator>OCTO-EARTH project</dc:creator>
  <cp:keywords>OCTO-EARTH, planetary propulsion, simulation, physics, reinforcement learning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